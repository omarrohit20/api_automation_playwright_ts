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02920" cy="30480"/>
          </a:xfrm>
          <a:prstGeom prst="rect">
            <a:avLst/>
          </a:prstGeom>
          <a:solidFill>
            <a:srgbClr val="4F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4FBFA0"/>
                </a:solidFill>
                <a:latin typeface="Calibri"/>
              </a:rPr>
              <a:t>AGENT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/>
              </a:rPr>
              <a:t>qa-analyst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7D3CD"/>
                </a:solidFill>
                <a:latin typeface="Calibri"/>
              </a:rPr>
              <a:t>The end-to-end QA analyst that turns a Jira Epic into a tested, reported, go/no-go decision — plan, gate, seed, script, execute, and report, with humans only in the loop where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7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>
                <a:solidFill>
                  <a:srgbClr val="4FBFA0"/>
                </a:solidFill>
                <a:latin typeface="Calibri"/>
              </a:rPr>
              <a:t>Jira Epic/Story in → verified release decision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8920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7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>
                <a:solidFill>
                  <a:srgbClr val="4FBFA0"/>
                </a:solidFill>
                <a:latin typeface="Calibri"/>
              </a:rPr>
              <a:t>Delegates design &amp; scripting to 3 sibling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8920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7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100" b="1">
                <a:solidFill>
                  <a:srgbClr val="4FBFA0"/>
                </a:solidFill>
                <a:latin typeface="Calibri"/>
              </a:rPr>
              <a:t>60–70% API · 20–30% UI · 5–10% manual test pyramid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C7A72"/>
                </a:solidFill>
                <a:latin typeface="Consolas"/>
              </a:rPr>
              <a:t>.claude/agents/qa-analyst.md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Georgia"/>
              </a:rPr>
              <a:t>QA on a ticket is always the same nine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6537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B2420"/>
                </a:solidFill>
                <a:latin typeface="Calibri"/>
              </a:rPr>
              <a:t>›  Did anyone write a test plan, or did testing start from vibes?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B2420"/>
                </a:solidFill>
                <a:latin typeface="Calibri"/>
              </a:rPr>
              <a:t>›  Is the environment even up — and did this ticket's change actually ship there?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B2420"/>
                </a:solidFill>
                <a:latin typeface="Calibri"/>
              </a:rPr>
              <a:t>›  Are the automation scripts current, or quietly stale since the last refactor?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B2420"/>
                </a:solidFill>
                <a:latin typeface="Calibri"/>
              </a:rPr>
              <a:t>›  Did we run everything (slow, wasteful) or nothing impacted (risky)?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B2420"/>
                </a:solidFill>
                <a:latin typeface="Calibri"/>
              </a:rPr>
              <a:t>›  When a test fails, is that a real bug — or a flaky selector wasting an afternoon?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1B2420"/>
                </a:solidFill>
                <a:latin typeface="Calibri"/>
              </a:rPr>
              <a:t>›  Is there a report anyone can actually hand to a release manager?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874519"/>
            <a:ext cx="4206240" cy="4297680"/>
          </a:xfrm>
          <a:prstGeom prst="roundRect">
            <a:avLst>
              <a:gd name="adj" fmla="val 8000"/>
            </a:avLst>
          </a:prstGeom>
          <a:solidFill>
            <a:srgbClr val="101512"/>
          </a:solidFill>
          <a:ln w="9525">
            <a:solidFill>
              <a:srgbClr val="1015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21488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4FBFA0"/>
                </a:solidFill>
                <a:latin typeface="Calibri"/>
              </a:rPr>
              <a:t>qa-analyst's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560320"/>
            <a:ext cx="3657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 i="1">
                <a:solidFill>
                  <a:srgbClr val="FFFFFF"/>
                </a:solidFill>
                <a:latin typeface="Georgia"/>
              </a:rPr>
              <a:t>One agent owns the orchestration end to end, delegates the parts that need deep specialist judgment, and refuses to fake a result it didn't actually produce.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HOW IT'S INVOKED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Georgia"/>
              </a:rPr>
              <a:t>One input. A verified release decision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7685F"/>
                </a:solidFill>
                <a:latin typeface="Calibr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6F5C"/>
                </a:solidFill>
                <a:latin typeface="Consolas"/>
              </a:rPr>
              <a:t>PROJ-1234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7685F"/>
                </a:solidFill>
                <a:latin typeface="Calibri"/>
              </a:rPr>
              <a:t>A single Jira Epic or Story key — that's the entire interface.</a:t>
            </a:r>
          </a:p>
        </p:txBody>
      </p:sp>
      <p:sp>
        <p:nvSpPr>
          <p:cNvPr id="10" name="Chevron 9"/>
          <p:cNvSpPr/>
          <p:nvPr/>
        </p:nvSpPr>
        <p:spPr>
          <a:xfrm>
            <a:off x="4069080" y="3520440"/>
            <a:ext cx="822960" cy="502920"/>
          </a:xfrm>
          <a:prstGeom prst="chevron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7492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E4EFEA"/>
          </a:solidFill>
          <a:ln w="9525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alibri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6F5C"/>
                </a:solidFill>
                <a:latin typeface="Georgia"/>
              </a:rPr>
              <a:t>7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2420"/>
                </a:solidFill>
                <a:latin typeface="Calibri"/>
              </a:rPr>
              <a:t>Plan → gate → seed → script → execute → analyze → report — orchestrated by qa-analyst, delegated to specialists.</a:t>
            </a:r>
          </a:p>
        </p:txBody>
      </p:sp>
      <p:sp>
        <p:nvSpPr>
          <p:cNvPr id="15" name="Chevron 14"/>
          <p:cNvSpPr/>
          <p:nvPr/>
        </p:nvSpPr>
        <p:spPr>
          <a:xfrm>
            <a:off x="8549640" y="3520440"/>
            <a:ext cx="822960" cy="502920"/>
          </a:xfrm>
          <a:prstGeom prst="chevron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55480" y="2103120"/>
            <a:ext cx="2057400" cy="3383280"/>
          </a:xfrm>
          <a:prstGeom prst="roundRect">
            <a:avLst>
              <a:gd name="adj" fmla="val 8000"/>
            </a:avLst>
          </a:prstGeom>
          <a:solidFill>
            <a:srgbClr val="E5F3EA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38360" y="23317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6974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2E8B57"/>
                </a:solidFill>
                <a:latin typeface="Georgia"/>
              </a:rPr>
              <a:t>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20440"/>
            <a:ext cx="1600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20"/>
                </a:solidFill>
                <a:latin typeface="Calibri"/>
              </a:rPr>
              <a:t>+ full artifact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8521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47548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420"/>
                </a:solidFill>
                <a:latin typeface="Georgia"/>
              </a:rPr>
              <a:t>Seven steps, executed in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572768" cy="50292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420"/>
                </a:solidFill>
                <a:latin typeface="Calibri"/>
              </a:rPr>
              <a:t>Plan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Fetch Epic + every Story/Task/Sub-task; delegate test cases to qa-test-designer</a:t>
            </a:r>
          </a:p>
        </p:txBody>
      </p:sp>
      <p:sp>
        <p:nvSpPr>
          <p:cNvPr id="10" name="Chevron 9"/>
          <p:cNvSpPr/>
          <p:nvPr/>
        </p:nvSpPr>
        <p:spPr>
          <a:xfrm>
            <a:off x="2057400" y="3703319"/>
            <a:ext cx="128016" cy="27432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1488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48840" y="1874519"/>
            <a:ext cx="1572768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420"/>
                </a:solidFill>
                <a:latin typeface="Calibri"/>
              </a:rP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Environment up? Changes deployed? Figma matches build? Hard blocker if not.</a:t>
            </a:r>
          </a:p>
        </p:txBody>
      </p:sp>
      <p:sp>
        <p:nvSpPr>
          <p:cNvPr id="15" name="Chevron 14"/>
          <p:cNvSpPr/>
          <p:nvPr/>
        </p:nvSpPr>
        <p:spPr>
          <a:xfrm>
            <a:off x="3703320" y="3703319"/>
            <a:ext cx="128016" cy="27432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9476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94760" y="1874519"/>
            <a:ext cx="1572768" cy="50292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420"/>
                </a:solidFill>
                <a:latin typeface="Calibri"/>
              </a:rPr>
              <a:t>Seed +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Script all seed data; capture every network call the app makes</a:t>
            </a:r>
          </a:p>
        </p:txBody>
      </p:sp>
      <p:sp>
        <p:nvSpPr>
          <p:cNvPr id="20" name="Chevron 19"/>
          <p:cNvSpPr/>
          <p:nvPr/>
        </p:nvSpPr>
        <p:spPr>
          <a:xfrm>
            <a:off x="5349240" y="3703319"/>
            <a:ext cx="128016" cy="27432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4068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40680" y="1874519"/>
            <a:ext cx="1572768" cy="50292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420"/>
                </a:solidFill>
                <a:latin typeface="Calibri"/>
              </a:rPr>
              <a:t>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Delegate to api- / ui-automation-architect using captured shapes</a:t>
            </a:r>
          </a:p>
        </p:txBody>
      </p:sp>
      <p:sp>
        <p:nvSpPr>
          <p:cNvPr id="25" name="Chevron 24"/>
          <p:cNvSpPr/>
          <p:nvPr/>
        </p:nvSpPr>
        <p:spPr>
          <a:xfrm>
            <a:off x="6995160" y="3703319"/>
            <a:ext cx="128016" cy="27432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08660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86600" y="1874519"/>
            <a:ext cx="1572768" cy="50292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420"/>
                </a:solidFill>
                <a:latin typeface="Calibri"/>
              </a:rPr>
              <a:t>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Impacted tests only, one retry, no loops</a:t>
            </a:r>
          </a:p>
        </p:txBody>
      </p:sp>
      <p:sp>
        <p:nvSpPr>
          <p:cNvPr id="30" name="Chevron 29"/>
          <p:cNvSpPr/>
          <p:nvPr/>
        </p:nvSpPr>
        <p:spPr>
          <a:xfrm>
            <a:off x="8641080" y="3703319"/>
            <a:ext cx="128016" cy="27432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325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32520" y="1874519"/>
            <a:ext cx="1572768" cy="50292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420"/>
                </a:solidFill>
                <a:latin typeface="Calibri"/>
              </a:rPr>
              <a:t>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Automation defect vs. genuine deviation, per failure</a:t>
            </a:r>
          </a:p>
        </p:txBody>
      </p:sp>
      <p:sp>
        <p:nvSpPr>
          <p:cNvPr id="35" name="Chevron 34"/>
          <p:cNvSpPr/>
          <p:nvPr/>
        </p:nvSpPr>
        <p:spPr>
          <a:xfrm>
            <a:off x="10287000" y="3703319"/>
            <a:ext cx="128016" cy="27432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3784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378440" y="1874519"/>
            <a:ext cx="1572768" cy="50292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420"/>
                </a:solidFill>
                <a:latin typeface="Calibri"/>
              </a:rP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report.md + execution-summary.md + draft Jira bugs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7685F"/>
                </a:solidFill>
                <a:latin typeface="Calibri"/>
              </a:rPr>
              <a:t>A blocked gate (step 2) stops everything downstream — no fabricated results past a blocker.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DELEGATION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Georgia"/>
              </a:rPr>
              <a:t>One orchestrator, three specialists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7685F"/>
                </a:solidFill>
                <a:latin typeface="Calibri"/>
              </a:rPr>
              <a:t>qa-analyst owns the process. Each sibling agent owns one discipline's depth, so the rules live in exactly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30632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01512"/>
          </a:solidFill>
          <a:ln w="9525">
            <a:solidFill>
              <a:srgbClr val="1015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qa-analyst</a:t>
            </a:r>
          </a:p>
          <a:p>
            <a:pPr algn="ctr"/>
            <a:r>
              <a:rPr sz="1050">
                <a:solidFill>
                  <a:srgbClr val="9BAAA2"/>
                </a:solidFill>
                <a:latin typeface="Calibri"/>
              </a:rPr>
              <a:t>plan · gate · seed · execute ·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Test case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420"/>
                </a:solidFill>
                <a:latin typeface="Consolas"/>
              </a:rPr>
              <a:t>qa-test-designer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Happy path · negative · boundary · edge · integration · non-functional. AC-coverage traceability. Produces qa/test-cases.md.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458114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API 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37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420"/>
                </a:solidFill>
                <a:latin typeface="Consolas"/>
              </a:rPr>
              <a:t>api-automation-architect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30352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Wrapper-class + JSON-fixture + template-assertion pattern for spec/api/, libs/, test_data/.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8855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UI 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420"/>
                </a:solidFill>
                <a:latin typeface="Consolas"/>
              </a:rPr>
              <a:t>ui-automation-architect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7685F"/>
                </a:solidFill>
                <a:latin typeface="Calibri"/>
              </a:rPr>
              <a:t>Page Object Model, Data Factory, Builder, Facade, Strategy for browser-driven specs.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3108960"/>
            <a:ext cx="1325880" cy="137160"/>
          </a:xfrm>
          <a:prstGeom prst="line">
            <a:avLst/>
          </a:prstGeom>
          <a:ln w="15875">
            <a:solidFill>
              <a:srgbClr val="DD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383280" y="3794760"/>
            <a:ext cx="1325880" cy="1051560"/>
          </a:xfrm>
          <a:prstGeom prst="line">
            <a:avLst/>
          </a:prstGeom>
          <a:ln w="15875">
            <a:solidFill>
              <a:srgbClr val="DD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452360" y="3108960"/>
            <a:ext cx="1371600" cy="137160"/>
          </a:xfrm>
          <a:prstGeom prst="line">
            <a:avLst/>
          </a:prstGeom>
          <a:ln w="15875">
            <a:solidFill>
              <a:srgbClr val="DD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API-AUTOMATION-ARCHITECT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420"/>
                </a:solidFill>
                <a:latin typeface="Georgia"/>
              </a:rPr>
              <a:t>API layer: one wrapper class per domain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4572000" cy="2331720"/>
          </a:xfrm>
          <a:prstGeom prst="roundRect">
            <a:avLst>
              <a:gd name="adj" fmla="val 8000"/>
            </a:avLst>
          </a:prstGeom>
          <a:solidFill>
            <a:srgbClr val="101512"/>
          </a:solidFill>
          <a:ln w="9525">
            <a:solidFill>
              <a:srgbClr val="1015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FBFA0"/>
                </a:solidFill>
                <a:latin typeface="Calibri"/>
              </a:rPr>
              <a:t>PROJECT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FBFA0"/>
                </a:solidFill>
                <a:latin typeface="Consolas"/>
              </a:rPr>
              <a:t>config/hosts.json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317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7D3CD"/>
                </a:solidFill>
                <a:latin typeface="Calibri"/>
              </a:rPr>
              <a:t>base URLs per 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2616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FBFA0"/>
                </a:solidFill>
                <a:latin typeface="Consolas"/>
              </a:rPr>
              <a:t>libs/&lt;domain&gt;.ts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426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7D3CD"/>
                </a:solidFill>
                <a:latin typeface="Calibri"/>
              </a:rPr>
              <a:t>wrapper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FBFA0"/>
                </a:solidFill>
                <a:latin typeface="Consolas"/>
              </a:rPr>
              <a:t>libs/utils/requests.ts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535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7D3CD"/>
                </a:solidFill>
                <a:latin typeface="Calibri"/>
              </a:rPr>
              <a:t>sendGet/Post/Put/Delete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6440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FBFA0"/>
                </a:solidFill>
                <a:latin typeface="Consolas"/>
              </a:rPr>
              <a:t>libs/utils/assertions.ts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64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7D3CD"/>
                </a:solidFill>
                <a:latin typeface="Calibri"/>
              </a:rPr>
              <a:t>verifyResponseTemplate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75304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FBFA0"/>
                </a:solidFill>
                <a:latin typeface="Consolas"/>
              </a:rPr>
              <a:t>test_data/&lt;domain&gt;/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753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7D3CD"/>
                </a:solidFill>
                <a:latin typeface="Calibri"/>
              </a:rPr>
              <a:t>request + response fixtures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FBFA0"/>
                </a:solidFill>
                <a:latin typeface="Consolas"/>
              </a:rPr>
              <a:t>spec/api/&lt;domain&gt;.spec.ts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88620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7D3CD"/>
                </a:solidFill>
                <a:latin typeface="Calibri"/>
              </a:rPr>
              <a:t>test 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51960"/>
            <a:ext cx="4572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alibri"/>
              </a:rPr>
              <a:t>WRAPPER-CLASS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36592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B2420"/>
                </a:solidFill>
                <a:latin typeface="Calibri"/>
              </a:rPr>
              <a:t>›  Constructor takes optional context + baseUrl; lazy async init if none passed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B2420"/>
                </a:solidFill>
                <a:latin typeface="Calibri"/>
              </a:rPr>
              <a:t>›  Every public method starts with await this.ensureContext()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B2420"/>
                </a:solidFill>
                <a:latin typeface="Calibri"/>
              </a:rPr>
              <a:t>›  Re-init context after auth, to inject the token into headers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1783080"/>
            <a:ext cx="6217920" cy="4389120"/>
          </a:xfrm>
          <a:prstGeom prst="roundRect">
            <a:avLst>
              <a:gd name="adj" fmla="val 8000"/>
            </a:avLst>
          </a:prstGeom>
          <a:solidFill>
            <a:srgbClr val="E4EFEA"/>
          </a:solidFill>
          <a:ln w="9525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23560" y="19659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6F5C"/>
                </a:solidFill>
                <a:latin typeface="Calibri"/>
              </a:rPr>
              <a:t>TEMPLATE-BASED ASSERTIONS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2395728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0" y="24688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B2420"/>
                </a:solidFill>
                <a:latin typeface="Consolas"/>
              </a:rPr>
              <a:t>"skip"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46888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7685F"/>
                </a:solidFill>
                <a:latin typeface="Calibri"/>
              </a:rPr>
              <a:t>Ignore field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288036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0" y="295351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B2420"/>
                </a:solidFill>
                <a:latin typeface="Consolas"/>
              </a:rPr>
              <a:t>"should_not_be_null"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95351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7685F"/>
                </a:solidFill>
                <a:latin typeface="Calibri"/>
              </a:rPr>
              <a:t>Exists, not null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3364992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0" y="3438144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B2420"/>
                </a:solidFill>
                <a:latin typeface="Consolas"/>
              </a:rPr>
              <a:t>"only_chars" / "only_digits"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438144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7685F"/>
                </a:solidFill>
                <a:latin typeface="Calibri"/>
              </a:rPr>
              <a:t>Regex-shape check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3849624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20" y="3922776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B2420"/>
                </a:solidFill>
                <a:latin typeface="Consolas"/>
              </a:rPr>
              <a:t>"match_regex:/pattern/"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92277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7685F"/>
                </a:solidFill>
                <a:latin typeface="Calibri"/>
              </a:rPr>
              <a:t>Custom regex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4334256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440740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B2420"/>
                </a:solidFill>
                <a:latin typeface="Consolas"/>
              </a:rPr>
              <a:t>literal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407408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7685F"/>
                </a:solidFill>
                <a:latin typeface="Calibri"/>
              </a:rPr>
              <a:t>Exact equality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6F5C"/>
                </a:solidFill>
                <a:latin typeface="Calibri"/>
              </a:rPr>
              <a:t>BEST PRACTICES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193792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B2420"/>
                </a:solidFill>
                <a:latin typeface="Calibri"/>
              </a:rPr>
              <a:t>›  Fresh, independent test data per test — no shared state across tests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B2420"/>
                </a:solidFill>
                <a:latin typeface="Calibri"/>
              </a:rPr>
              <a:t>›  Negative cases pass failOnStatusCode=false, then assert the error status directly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B2420"/>
                </a:solidFill>
                <a:latin typeface="Calibri"/>
              </a:rPr>
              <a:t>›  New domain checklist: host entry → wrapper class → fixtures → spec → run to 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UI-AUTOMATION-ARCHITECT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B2420"/>
                </a:solidFill>
                <a:latin typeface="Georgia"/>
              </a:rPr>
              <a:t>UI layer: five patterns, applied only where 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420"/>
                </a:solidFill>
                <a:latin typeface="Calibri"/>
              </a:rPr>
              <a:t>Page Object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03704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6F5C"/>
                </a:solidFill>
                <a:latin typeface="Consolas"/>
              </a:rPr>
              <a:t>pages/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920240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7685F"/>
                </a:solidFill>
                <a:latin typeface="Calibri"/>
              </a:rPr>
              <a:t>One class per file, PascalCase matching the filename. Methods named for user intent (proceedToCheckout), not the locator. data-test/data-testid first, getByRole/getByLabel fallback.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79192"/>
            <a:ext cx="10881360" cy="896112"/>
          </a:xfrm>
          <a:prstGeom prst="rect">
            <a:avLst/>
          </a:prstGeom>
          <a:solidFill>
            <a:srgbClr val="F5F7F4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7063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420"/>
                </a:solidFill>
                <a:latin typeface="Calibri"/>
              </a:rPr>
              <a:t>Data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9981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6F5C"/>
                </a:solidFill>
                <a:latin typeface="Consolas"/>
              </a:rPr>
              <a:t>factories/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816352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7685F"/>
                </a:solidFill>
                <a:latin typeface="Calibri"/>
              </a:rPr>
              <a:t>One function per domain, typed return composed from page-object interfaces. Deterministic fixtures — no faker unless explicitly asked.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575304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66744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420"/>
                </a:solidFill>
                <a:latin typeface="Calibri"/>
              </a:rPr>
              <a:t>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9592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6F5C"/>
                </a:solidFill>
                <a:latin typeface="Consolas"/>
              </a:rPr>
              <a:t>factories/&lt;Type&gt;Builder.ts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12464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7685F"/>
                </a:solidFill>
                <a:latin typeface="Calibri"/>
              </a:rPr>
              <a:t>Fluent, chainable, for objects with 4+ optional fields tests vary. build() always returns a fresh copy, never the mutable internal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471416"/>
            <a:ext cx="10881360" cy="896112"/>
          </a:xfrm>
          <a:prstGeom prst="rect">
            <a:avLst/>
          </a:prstGeom>
          <a:solidFill>
            <a:srgbClr val="F5F7F4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62856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420"/>
                </a:solidFill>
                <a:latin typeface="Calibri"/>
              </a:rPr>
              <a:t>Facade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920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6F5C"/>
                </a:solidFill>
                <a:latin typeface="Consolas"/>
              </a:rPr>
              <a:t>facades/&lt;Feature&gt;Facade.ts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608576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7685F"/>
                </a:solidFill>
                <a:latin typeface="Calibri"/>
              </a:rPr>
              <a:t>For specs chaining 3+ page objects into one workflow. Named for the workflow (completeGuestCheckout), constructor-injected page objects.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367528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4589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2420"/>
                </a:solidFill>
                <a:latin typeface="Calibri"/>
              </a:rPr>
              <a:t>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8815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6F5C"/>
                </a:solidFill>
                <a:latin typeface="Consolas"/>
              </a:rPr>
              <a:t>strategies/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5504688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7685F"/>
                </a:solidFill>
                <a:latin typeface="Calibri"/>
              </a:rPr>
              <a:t>Only when 2+ interchangeable behaviors genuinely exist today (e.g. environment or auth method) — never a one-implementation abstraction.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2636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9A6B0C"/>
                </a:solidFill>
                <a:latin typeface="Calibri"/>
              </a:rPr>
              <a:t>Introduce Builder/Facade/Strategy only when the pattern is earned by real duplication — never as speculative abstraction ahead of need.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STEP 01 — PLAN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420"/>
                </a:solidFill>
                <a:latin typeface="Georgia"/>
              </a:rPr>
              <a:t>Every Story, every Sub-task. No sampling.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6F5C"/>
                </a:solidFill>
                <a:latin typeface="Calibri"/>
              </a:rPr>
              <a:t>qa-analyst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B2420"/>
                </a:solidFill>
                <a:latin typeface="Calibri"/>
              </a:rPr>
              <a:t>›  Enumerate the Epic + every linked Story/Task/Sub-task exhaustively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B2420"/>
                </a:solidFill>
                <a:latin typeface="Calibri"/>
              </a:rPr>
              <a:t>›  Pull Figma frame data for later parity checks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B2420"/>
                </a:solidFill>
                <a:latin typeface="Calibri"/>
              </a:rPr>
              <a:t>›  Author test-plan.md itself: scope, environments, entry/exit criteria, risk, target test-pyramid mix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B2420"/>
                </a:solidFill>
                <a:latin typeface="Calibri"/>
              </a:rPr>
              <a:t>›  Fold qa-test-designer's output into test-cases.md, update-in-place on reruns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E4EFEA"/>
          </a:solidFill>
          <a:ln w="9525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6F5C"/>
                </a:solidFill>
                <a:latin typeface="Calibri"/>
              </a:rPr>
              <a:t>qa-test-designer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B2420"/>
                </a:solidFill>
                <a:latin typeface="Calibri"/>
              </a:rPr>
              <a:t>›  Applies every design technique: happy path, negative, boundary value, edge case, integration, non-functional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B2420"/>
                </a:solidFill>
                <a:latin typeface="Calibri"/>
              </a:rPr>
              <a:t>›  Targets the 60-70/20-30/5-10 test-pyramid mix when typing each case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B2420"/>
                </a:solidFill>
                <a:latin typeface="Calibri"/>
              </a:rPr>
              <a:t>›  Every AC gets at least one happy path AND one negative scenario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B2420"/>
                </a:solidFill>
                <a:latin typeface="Calibri"/>
              </a:rPr>
              <a:t>›  Ambiguous ACs → scenarios for both interpretations, marked [ASSUMPTION]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STEP 02 —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420"/>
                </a:solidFill>
                <a:latin typeface="Georgia"/>
              </a:rPr>
              <a:t>If it's not really there, nothing downstream is real either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185416"/>
            <a:ext cx="420624" cy="420624"/>
          </a:xfrm>
          <a:prstGeom prst="ellipse">
            <a:avLst/>
          </a:prstGeom>
          <a:solidFill>
            <a:srgbClr val="E5F3EA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E8B57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756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B2420"/>
                </a:solidFill>
                <a:latin typeface="Calibri"/>
              </a:rPr>
              <a:t>Environment up?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048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7685F"/>
                </a:solidFill>
                <a:latin typeface="Calibri"/>
              </a:rPr>
              <a:t>API health/status endpoint + live browser_navigate / browser_snapshot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3236976"/>
            <a:ext cx="420624" cy="420624"/>
          </a:xfrm>
          <a:prstGeom prst="ellipse">
            <a:avLst/>
          </a:prstGeom>
          <a:solidFill>
            <a:srgbClr val="E5F3EA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E8B57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12724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B2420"/>
                </a:solidFill>
                <a:latin typeface="Calibri"/>
              </a:rPr>
              <a:t>Changes deployed?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564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7685F"/>
                </a:solidFill>
                <a:latin typeface="Calibri"/>
              </a:rPr>
              <a:t>Jira fix-version, release marker, or a live smoke check against the AC itself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908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" y="4288536"/>
            <a:ext cx="420624" cy="420624"/>
          </a:xfrm>
          <a:prstGeom prst="ellipse">
            <a:avLst/>
          </a:prstGeom>
          <a:solidFill>
            <a:srgbClr val="E5F3EA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E8B57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788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B2420"/>
                </a:solidFill>
                <a:latin typeface="Calibri"/>
              </a:rPr>
              <a:t>Figma matches build?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0799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7685F"/>
                </a:solidFill>
                <a:latin typeface="Calibri"/>
              </a:rPr>
              <a:t>If frames were linked in step 1 — compare structure, copy, layout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965960"/>
            <a:ext cx="4160520" cy="4160520"/>
          </a:xfrm>
          <a:prstGeom prst="roundRect">
            <a:avLst>
              <a:gd name="adj" fmla="val 8000"/>
            </a:avLst>
          </a:prstGeom>
          <a:solidFill>
            <a:srgbClr val="101512"/>
          </a:solidFill>
          <a:ln w="9525">
            <a:solidFill>
              <a:srgbClr val="1015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221284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E0AC4C"/>
                </a:solidFill>
                <a:latin typeface="Calibri"/>
              </a:rPr>
              <a:t>HARD BLOCKER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651760"/>
            <a:ext cx="3611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Environment down, or changes not present →
STOP. Report the blocker plainly: what's missing, what was checked, what unblocks it.
No fabricated results past this point.
A Figma discrepancy alone is not a blocker — log it, keep going.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TEST PYRAMID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420"/>
                </a:solidFill>
                <a:latin typeface="Georgia"/>
              </a:rPr>
              <a:t>Push coverage down the stack, not up</a:t>
            </a:r>
          </a:p>
        </p:txBody>
      </p:sp>
      <p:sp>
        <p:nvSpPr>
          <p:cNvPr id="6" name="Trapezoid 5"/>
          <p:cNvSpPr/>
          <p:nvPr/>
        </p:nvSpPr>
        <p:spPr>
          <a:xfrm>
            <a:off x="365760" y="1531366"/>
            <a:ext cx="5852160" cy="1005840"/>
          </a:xfrm>
          <a:prstGeom prst="trapezoid">
            <a:avLst/>
          </a:prstGeom>
          <a:solidFill>
            <a:srgbClr val="E5F3EA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2E8B57"/>
                </a:solidFill>
                <a:latin typeface="Calibri"/>
              </a:rPr>
              <a:t>60–70% 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02996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7685F"/>
                </a:solidFill>
                <a:latin typeface="Calibri"/>
              </a:rPr>
              <a:t>Backend-verifiable behavior — including endpoints discovered only via network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105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2E8B57"/>
                </a:solidFill>
                <a:latin typeface="Calibri"/>
              </a:rPr>
              <a:t>API</a:t>
            </a:r>
          </a:p>
        </p:txBody>
      </p:sp>
      <p:sp>
        <p:nvSpPr>
          <p:cNvPr id="9" name="Trapezoid 8"/>
          <p:cNvSpPr/>
          <p:nvPr/>
        </p:nvSpPr>
        <p:spPr>
          <a:xfrm>
            <a:off x="1188720" y="2743200"/>
            <a:ext cx="4206240" cy="914400"/>
          </a:xfrm>
          <a:prstGeom prst="trapezoid">
            <a:avLst/>
          </a:prstGeom>
          <a:solidFill>
            <a:srgbClr val="E4EFEA"/>
          </a:solidFill>
          <a:ln w="1905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F6F5C"/>
                </a:solidFill>
                <a:latin typeface="Calibri"/>
              </a:rPr>
              <a:t>20–30% 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08152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7685F"/>
                </a:solidFill>
                <a:latin typeface="Calibri"/>
              </a:rPr>
              <a:t>Only what needs rendering/interaction: layout, validation messages, navigation, visual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86207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1F6F5C"/>
                </a:solidFill>
                <a:latin typeface="Calibri"/>
              </a:rPr>
              <a:t>UI</a:t>
            </a:r>
          </a:p>
        </p:txBody>
      </p:sp>
      <p:sp>
        <p:nvSpPr>
          <p:cNvPr id="12" name="Trapezoid 11"/>
          <p:cNvSpPr/>
          <p:nvPr/>
        </p:nvSpPr>
        <p:spPr>
          <a:xfrm>
            <a:off x="2103120" y="3840480"/>
            <a:ext cx="2377440" cy="914400"/>
          </a:xfrm>
          <a:prstGeom prst="trapezoid">
            <a:avLst/>
          </a:prstGeom>
          <a:solidFill>
            <a:srgbClr val="FBF1DC"/>
          </a:solidFill>
          <a:ln w="19050">
            <a:solidFill>
              <a:srgbClr val="9A6B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9A6B0C"/>
                </a:solidFill>
                <a:latin typeface="Calibri"/>
              </a:rPr>
              <a:t>5–10%  Manual E2E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13308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7685F"/>
                </a:solidFill>
                <a:latin typeface="Calibri"/>
              </a:rPr>
              <a:t>High-value cross-system journeys — never automated, by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9136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50" b="1">
                <a:solidFill>
                  <a:srgbClr val="9A6B0C"/>
                </a:solidFill>
                <a:latin typeface="Calibri"/>
              </a:rPr>
              <a:t>Manual E2E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8521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57685F"/>
                </a:solidFill>
                <a:latin typeface="Calibri"/>
              </a:rPr>
              <a:t>If an Epic genuinely can't hit this ratio (e.g. UI-only, no API surface), qa-analyst says so explicitly — it never forces a case into the wrong layer just to hit the number.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STEPS 03–04 — SEED, CAPTURE,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420"/>
                </a:solidFill>
                <a:latin typeface="Georgia"/>
              </a:rPr>
              <a:t>The network tab becomes a test-generation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B2420"/>
                </a:solidFill>
                <a:latin typeface="Calibri"/>
              </a:rPr>
              <a:t>Seed via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7685F"/>
                </a:solidFill>
                <a:latin typeface="Calibri"/>
              </a:rPr>
              <a:t>API seeds compose the wrapper-class pattern; UI seeds walked live via MCP, then encoded as a script — never a one-off manual run</a:t>
            </a:r>
          </a:p>
        </p:txBody>
      </p:sp>
      <p:sp>
        <p:nvSpPr>
          <p:cNvPr id="10" name="Chevron 9"/>
          <p:cNvSpPr/>
          <p:nvPr/>
        </p:nvSpPr>
        <p:spPr>
          <a:xfrm>
            <a:off x="3227832" y="3749039"/>
            <a:ext cx="146304" cy="32004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B2420"/>
                </a:solidFill>
                <a:latin typeface="Calibri"/>
              </a:rPr>
              <a:t>Capture network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7685F"/>
                </a:solidFill>
                <a:latin typeface="Calibri"/>
              </a:rPr>
              <a:t>browser_network_requests during seeding/execution → dedup by endpoint+method → network-capture.md</a:t>
            </a:r>
          </a:p>
        </p:txBody>
      </p:sp>
      <p:sp>
        <p:nvSpPr>
          <p:cNvPr id="15" name="Chevron 14"/>
          <p:cNvSpPr/>
          <p:nvPr/>
        </p:nvSpPr>
        <p:spPr>
          <a:xfrm>
            <a:off x="6016752" y="3749039"/>
            <a:ext cx="146304" cy="32004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7220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B2420"/>
                </a:solidFill>
                <a:latin typeface="Calibri"/>
              </a:rPr>
              <a:t>Turn endpoints into API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7685F"/>
                </a:solidFill>
                <a:latin typeface="Calibri"/>
              </a:rPr>
              <a:t>Even endpoints the ticket never named get wrapper methods + fixtures from the real observed shapes</a:t>
            </a:r>
          </a:p>
        </p:txBody>
      </p:sp>
      <p:sp>
        <p:nvSpPr>
          <p:cNvPr id="20" name="Chevron 19"/>
          <p:cNvSpPr/>
          <p:nvPr/>
        </p:nvSpPr>
        <p:spPr>
          <a:xfrm>
            <a:off x="8805672" y="3749039"/>
            <a:ext cx="146304" cy="320040"/>
          </a:xfrm>
          <a:prstGeom prst="chevron">
            <a:avLst/>
          </a:prstGeom>
          <a:solidFill>
            <a:srgbClr val="DD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6112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0" y="2331720"/>
            <a:ext cx="457200" cy="45720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B2420"/>
                </a:solidFill>
                <a:latin typeface="Calibri"/>
              </a:rPr>
              <a:t>Delegate remaining 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7685F"/>
                </a:solidFill>
                <a:latin typeface="Calibri"/>
              </a:rPr>
              <a:t>UI-typed cases → ui-automation-architect; every touched file logged in script-changes.md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STEPS 05–06 — EXECUTE &amp;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2420"/>
                </a:solidFill>
                <a:latin typeface="Georgia"/>
              </a:rPr>
              <a:t>Impacted only. Retry once. Then it's a finding, not a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6F5C"/>
                </a:solidFill>
                <a:latin typeface="Calibri"/>
              </a:rPr>
              <a:t>Execution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1F6F5C"/>
                </a:solidFill>
                <a:latin typeface="Calibri"/>
              </a:rPr>
              <a:t>Scope  </a:t>
            </a:r>
            <a:r>
              <a:rPr sz="1400">
                <a:solidFill>
                  <a:srgbClr val="1B2420"/>
                </a:solidFill>
                <a:latin typeface="Calibri"/>
              </a:rPr>
              <a:t>Only specs impacted by this Epic/Story — never the full suite, never unrelated pre-existing specs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1F6F5C"/>
                </a:solidFill>
                <a:latin typeface="Calibri"/>
              </a:rPr>
              <a:t>Retry  </a:t>
            </a:r>
            <a:r>
              <a:rPr sz="1400">
                <a:solidFill>
                  <a:srgbClr val="1B2420"/>
                </a:solidFill>
                <a:latin typeface="Calibri"/>
              </a:rPr>
              <a:t>At most one retry on failure, plus at most one considered fix-and-retry for obvious defects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1F6F5C"/>
                </a:solidFill>
                <a:latin typeface="Calibri"/>
              </a:rPr>
              <a:t>After that  </a:t>
            </a:r>
            <a:r>
              <a:rPr sz="1400">
                <a:solidFill>
                  <a:srgbClr val="1B2420"/>
                </a:solidFill>
                <a:latin typeface="Calibri"/>
              </a:rPr>
              <a:t>Still failing? Treat as a possible genuine application issue — carry into analysis, stop debugging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1F6F5C"/>
                </a:solidFill>
                <a:latin typeface="Calibri"/>
              </a:rPr>
              <a:t>Manual scenarios  </a:t>
            </a:r>
            <a:r>
              <a:rPr sz="1400">
                <a:solidFill>
                  <a:srgbClr val="1B2420"/>
                </a:solidFill>
                <a:latin typeface="Calibri"/>
              </a:rPr>
              <a:t>Walked live via MCP where feasible, clearly labeled — never claimed as automated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2024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101512"/>
          </a:solidFill>
          <a:ln w="9525">
            <a:solidFill>
              <a:srgbClr val="1015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4FBFA0"/>
                </a:solidFill>
                <a:latin typeface="Calibri"/>
              </a:rPr>
              <a:t>Every failure gets one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060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Georgia"/>
              </a:rPr>
              <a:t>Automation defect,
or genuine deviation?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70332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7D3CD"/>
                </a:solidFill>
                <a:latin typeface="Calibri"/>
              </a:rPr>
              <a:t>Bad selector, stale fixture, timing → automation defect, fixed in place.
Behavior contradicts the Epic/Story's actual acceptance criterion → genuine deviation, goes to the report and a bug draft.
Never lumped together. Never silently reclassified to make numbers look better.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STEP 07 —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B2420"/>
                </a:solidFill>
                <a:latin typeface="Georgia"/>
              </a:rPr>
              <a:t>qa-artifacts/&lt;KEY&gt;/ — everything, checked in, verified on disk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F6F5C"/>
                </a:solidFill>
                <a:latin typeface="Consolas"/>
              </a:rPr>
              <a:t>test-plan.md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9842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659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7685F"/>
                </a:solidFill>
                <a:latin typeface="Calibri"/>
              </a:rPr>
              <a:t>Scope, environments, entry/exit criteria, risk, pyramid mix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23159"/>
            <a:ext cx="1088136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145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F6F5C"/>
                </a:solidFill>
                <a:latin typeface="Consolas"/>
              </a:rPr>
              <a:t>test-cases.md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5328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5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7685F"/>
                </a:solidFill>
                <a:latin typeface="Calibri"/>
              </a:rPr>
              <a:t>Per-issue case tables + Figma-derived UI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7179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F6F5C"/>
                </a:solidFill>
                <a:latin typeface="Consolas"/>
              </a:rPr>
              <a:t>network-capture.md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308152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6323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7685F"/>
                </a:solidFill>
                <a:latin typeface="Calibri"/>
              </a:rPr>
              <a:t>Distinct endpoints observed during seeding/execution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20439"/>
            <a:ext cx="1088136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1187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F6F5C"/>
                </a:solidFill>
                <a:latin typeface="Consolas"/>
              </a:rPr>
              <a:t>script-changes.md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63016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1187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7685F"/>
                </a:solidFill>
                <a:latin typeface="Calibri"/>
              </a:rPr>
              <a:t>Every spec/page-object/fixture touched, with why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06907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F6F5C"/>
                </a:solidFill>
                <a:latin typeface="Consolas"/>
              </a:rPr>
              <a:t>report.md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17880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Step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16051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7685F"/>
                </a:solidFill>
                <a:latin typeface="Calibri"/>
              </a:rPr>
              <a:t>Detailed results, deviations, failure evidence, Figma parity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617719"/>
            <a:ext cx="1088136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7091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F6F5C"/>
                </a:solidFill>
                <a:latin typeface="Consolas"/>
              </a:rPr>
              <a:t>execution-summary.md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47274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Step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7091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7685F"/>
                </a:solidFill>
                <a:latin typeface="Calibri"/>
              </a:rPr>
              <a:t>One-minute read: pass/fail, mix, go/no-go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16635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2577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F6F5C"/>
                </a:solidFill>
                <a:latin typeface="Consolas"/>
              </a:rPr>
              <a:t>jira-bug-drafts.md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2760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12700" rIns="25400" bIns="12700" rtlCol="0" anchor="ctr"/>
          <a:lstStyle/>
          <a:p>
            <a:pPr algn="ctr"/>
            <a:r>
              <a:rPr sz="1000" b="1">
                <a:solidFill>
                  <a:srgbClr val="1F6F5C"/>
                </a:solidFill>
                <a:latin typeface="Calibri"/>
              </a:rPr>
              <a:t>Step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2577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7685F"/>
                </a:solidFill>
                <a:latin typeface="Calibri"/>
              </a:rPr>
              <a:t>Draft-only — needs your confirmation to 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1">
                <a:solidFill>
                  <a:srgbClr val="9A6B0C"/>
                </a:solidFill>
                <a:latin typeface="Calibri"/>
              </a:rPr>
              <a:t>report.md and execution-summary.md are re-read from disk before the run is declared complete — a chat summary alone doesn't count.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alibri"/>
              </a:rPr>
              <a:t>HUMAN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420"/>
                </a:solidFill>
                <a:latin typeface="Georgia"/>
              </a:rPr>
              <a:t>It drafts. It never files.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11680"/>
            <a:ext cx="320040" cy="32004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45820" y="2331720"/>
            <a:ext cx="0" cy="685800"/>
          </a:xfrm>
          <a:prstGeom prst="line">
            <a:avLst/>
          </a:prstGeom>
          <a:ln w="19050">
            <a:solidFill>
              <a:srgbClr val="DD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4440" y="19476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B2420"/>
                </a:solidFill>
                <a:latin typeface="Calibri"/>
              </a:rPr>
              <a:t>Genuine deviation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1343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7685F"/>
                </a:solidFill>
                <a:latin typeface="Calibri"/>
              </a:rPr>
              <a:t>Not an automation defect — a real behavior contradicting the Epic/Story's AC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063240"/>
            <a:ext cx="320040" cy="32004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845820" y="3383280"/>
            <a:ext cx="0" cy="685800"/>
          </a:xfrm>
          <a:prstGeom prst="line">
            <a:avLst/>
          </a:prstGeom>
          <a:ln w="19050">
            <a:solidFill>
              <a:srgbClr val="DD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4440" y="299923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B2420"/>
                </a:solidFill>
                <a:latin typeface="Calibri"/>
              </a:rPr>
              <a:t>Draft written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6499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7685F"/>
                </a:solidFill>
                <a:latin typeface="Calibri"/>
              </a:rPr>
              <a:t>Summary, environment, steps to reproduce, expected/actual, severity, evidence paths — in jira-bug-drafts.md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114800"/>
            <a:ext cx="320040" cy="32004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45820" y="4434840"/>
            <a:ext cx="0" cy="685800"/>
          </a:xfrm>
          <a:prstGeom prst="line">
            <a:avLst/>
          </a:prstGeom>
          <a:ln w="19050">
            <a:solidFill>
              <a:srgbClr val="DD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4440" y="405079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B2420"/>
                </a:solidFill>
                <a:latin typeface="Calibri"/>
              </a:rPr>
              <a:t>You review &amp; confirm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1655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7685F"/>
                </a:solidFill>
                <a:latin typeface="Calibri"/>
              </a:rPr>
              <a:t>Nothing is created until you explicitly say which drafts to file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166360"/>
            <a:ext cx="320040" cy="3200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51023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B2420"/>
                </a:solidFill>
                <a:latin typeface="Calibri"/>
              </a:rPr>
              <a:t>Only then: real Jira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46811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7685F"/>
                </a:solidFill>
                <a:latin typeface="Calibri"/>
              </a:rPr>
              <a:t>POST /rest/api/3/issue via config defaults — created keys reported 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96596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BF1DC"/>
          </a:solidFill>
          <a:ln w="9525">
            <a:solidFill>
              <a:srgbClr val="9A6B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2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9A6B0C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06040"/>
            <a:ext cx="2651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420"/>
                </a:solidFill>
                <a:latin typeface="Calibri"/>
              </a:rPr>
              <a:t>Auto-filing bugs against a shared Jira project is a write action with real cost — noisy backlogs, wrong-severity tickets, alert fatigue. A draft costs nothing to be wrong; a filed ticket costs someone's afternoon.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7685F"/>
                </a:solidFill>
                <a:latin typeface="Consolas"/>
              </a:rPr>
              <a:t>qa-analyst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7685F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4F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4FBFA0"/>
                </a:solidFill>
                <a:latin typeface="Calibri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Three steps to a live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71E1A"/>
          </a:solidFill>
          <a:ln w="9525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38912" cy="438912"/>
          </a:xfrm>
          <a:prstGeom prst="ellipse">
            <a:avLst/>
          </a:prstGeom>
          <a:solidFill>
            <a:srgbClr val="4F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1512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1226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BFA0"/>
                </a:solidFill>
                <a:latin typeface="Consolas"/>
              </a:rPr>
              <a:t>cp .env.example .env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9631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7D3CD"/>
                </a:solidFill>
                <a:latin typeface="Calibri"/>
              </a:rPr>
              <a:t>Fill in JIRA_API_TOKEN, FIGMA_API_TOKEN, GIT_TOKEN, app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0040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71E1A"/>
          </a:solidFill>
          <a:ln w="9525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3493008"/>
            <a:ext cx="438912" cy="438912"/>
          </a:xfrm>
          <a:prstGeom prst="ellipse">
            <a:avLst/>
          </a:prstGeom>
          <a:solidFill>
            <a:srgbClr val="4F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1512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467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BFA0"/>
                </a:solidFill>
                <a:latin typeface="Consolas"/>
              </a:rPr>
              <a:t>edit config/qa-agent.config.json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307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7D3CD"/>
                </a:solidFill>
                <a:latin typeface="Calibri"/>
              </a:rPr>
              <a:t>Jira project, Figma team, per-environment app/API URLs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3484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71E1A"/>
          </a:solidFill>
          <a:ln w="9525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4727448"/>
            <a:ext cx="438912" cy="438912"/>
          </a:xfrm>
          <a:prstGeom prst="ellipse">
            <a:avLst/>
          </a:prstGeom>
          <a:solidFill>
            <a:srgbClr val="4F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01512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811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BFA0"/>
                </a:solidFill>
                <a:latin typeface="Consolas"/>
              </a:rPr>
              <a:t>"Run the qa-analyst agent for PROJ-1234"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96519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7D3CD"/>
                </a:solidFill>
                <a:latin typeface="Calibri"/>
              </a:rPr>
              <a:t>Or: Agent tool with subagent_type: qa-analyst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C7A72"/>
                </a:solidFill>
                <a:latin typeface="Consolas"/>
              </a:rPr>
              <a:t>.claude/agents/qa-analyst.md   ·   QA_ANALYST_README.md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1952</Words>
  <Application>Microsoft Office PowerPoint</Application>
  <PresentationFormat>Widescreen</PresentationFormat>
  <Paragraphs>258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Omar</cp:lastModifiedBy>
  <cp:revision>2</cp:revision>
  <dcterms:created xsi:type="dcterms:W3CDTF">2013-01-27T09:14:16Z</dcterms:created>
  <dcterms:modified xsi:type="dcterms:W3CDTF">2026-07-13T10:07:13Z</dcterms:modified>
  <cp:category/>
</cp:coreProperties>
</file>